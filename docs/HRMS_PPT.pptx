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1" r:id="rId3"/>
    <p:sldId id="257" r:id="rId4"/>
    <p:sldId id="258" r:id="rId5"/>
    <p:sldId id="266" r:id="rId6"/>
    <p:sldId id="260" r:id="rId7"/>
    <p:sldId id="261" r:id="rId8"/>
    <p:sldId id="262" r:id="rId9"/>
    <p:sldId id="267" r:id="rId10"/>
    <p:sldId id="268" r:id="rId11"/>
    <p:sldId id="269" r:id="rId12"/>
    <p:sldId id="259" r:id="rId13"/>
    <p:sldId id="270" r:id="rId14"/>
    <p:sldId id="271" r:id="rId15"/>
    <p:sldId id="272" r:id="rId16"/>
    <p:sldId id="273" r:id="rId17"/>
    <p:sldId id="274" r:id="rId18"/>
    <p:sldId id="275" r:id="rId19"/>
    <p:sldId id="263" r:id="rId20"/>
    <p:sldId id="264" r:id="rId21"/>
    <p:sldId id="276" r:id="rId22"/>
    <p:sldId id="277" r:id="rId23"/>
    <p:sldId id="265" r:id="rId24"/>
    <p:sldId id="283" r:id="rId25"/>
    <p:sldId id="280" r:id="rId26"/>
  </p:sldIdLst>
  <p:sldSz cx="14630400" cy="8229600"/>
  <p:notesSz cx="8229600" cy="14630400"/>
  <p:embeddedFontLst>
    <p:embeddedFont>
      <p:font typeface="Tomorrow" panose="020B0604020202020204" charset="0"/>
      <p:regular r:id="rId28"/>
    </p:embeddedFont>
    <p:embeddedFont>
      <p:font typeface="Tomorrow Semi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14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CA77-57A4-5AD6-8A47-25896F405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D7E65-F380-DB68-098D-E947E790E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DE5B3-19DE-E47A-95B8-B2E0BCCA9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D8978-BA5B-20F1-3D4D-AEC504285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07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31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6.png"/><Relationship Id="rId4" Type="http://schemas.openxmlformats.org/officeDocument/2006/relationships/image" Target="../media/image3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1.png"/><Relationship Id="rId4" Type="http://schemas.openxmlformats.org/officeDocument/2006/relationships/image" Target="../media/image40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tanstack.com/query/latest" TargetMode="External"/><Relationship Id="rId7" Type="http://schemas.openxmlformats.org/officeDocument/2006/relationships/hyperlink" Target="https://stackoverflow.com/" TargetMode="External"/><Relationship Id="rId2" Type="http://schemas.openxmlformats.org/officeDocument/2006/relationships/hyperlink" Target="https://vite.dev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azure/mysql/" TargetMode="External"/><Relationship Id="rId5" Type="http://schemas.openxmlformats.org/officeDocument/2006/relationships/hyperlink" Target="https://spring.io/projects/spring-security" TargetMode="External"/><Relationship Id="rId4" Type="http://schemas.openxmlformats.org/officeDocument/2006/relationships/hyperlink" Target="https://spring.io/projects/spring-boot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39275" y="3020718"/>
            <a:ext cx="7556421" cy="1705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Human Resource Management System</a:t>
            </a:r>
            <a:endParaRPr lang="en-US" sz="4450" b="1" dirty="0"/>
          </a:p>
        </p:txBody>
      </p:sp>
      <p:sp>
        <p:nvSpPr>
          <p:cNvPr id="5" name="Text 2"/>
          <p:cNvSpPr/>
          <p:nvPr/>
        </p:nvSpPr>
        <p:spPr>
          <a:xfrm>
            <a:off x="839041" y="61692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Developed at:</a:t>
            </a: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Roima Intelligence, Ahmedabad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39041" y="668002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Developer:</a:t>
            </a: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Dev Patel &amp; Kishan </a:t>
            </a:r>
            <a:r>
              <a:rPr lang="en-US" sz="1750" dirty="0" err="1">
                <a:latin typeface="Tomorrow" pitchFamily="34" charset="0"/>
                <a:ea typeface="Tomorrow" pitchFamily="34" charset="-122"/>
                <a:cs typeface="Tomorrow" pitchFamily="34" charset="-120"/>
              </a:rPr>
              <a:t>Dervaliya</a:t>
            </a: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- Department of CE, 	  	      	      </a:t>
            </a:r>
            <a:r>
              <a:rPr lang="en-US" sz="1750" dirty="0" err="1">
                <a:latin typeface="Tomorrow" pitchFamily="34" charset="0"/>
                <a:ea typeface="Tomorrow" pitchFamily="34" charset="-122"/>
                <a:cs typeface="Tomorrow" pitchFamily="34" charset="-120"/>
              </a:rPr>
              <a:t>Dharmsinh</a:t>
            </a: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Desai University</a:t>
            </a:r>
            <a:endParaRPr lang="en-US" sz="17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CD54EA-F56E-D43E-87D9-C1904E1B16B4}"/>
              </a:ext>
            </a:extLst>
          </p:cNvPr>
          <p:cNvSpPr txBox="1"/>
          <p:nvPr/>
        </p:nvSpPr>
        <p:spPr>
          <a:xfrm>
            <a:off x="793790" y="7248686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latin typeface="Tomorrow" panose="020B0604020202020204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F98A4955-22D6-4089-6A55-BA9F0B65DDD3}"/>
              </a:ext>
            </a:extLst>
          </p:cNvPr>
          <p:cNvSpPr/>
          <p:nvPr/>
        </p:nvSpPr>
        <p:spPr>
          <a:xfrm>
            <a:off x="839040" y="756297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b="1" dirty="0"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Guided By:</a:t>
            </a:r>
            <a:r>
              <a:rPr lang="en-US" dirty="0"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 Prof. Ami Shah(DDU) and Yash Shah(</a:t>
            </a:r>
            <a:r>
              <a:rPr lang="en-US" dirty="0" err="1"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Roima</a:t>
            </a:r>
            <a:r>
              <a:rPr lang="en-US" dirty="0"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 Int.)</a:t>
            </a:r>
            <a:endParaRPr lang="en-IN" dirty="0">
              <a:latin typeface="Tomorrow" panose="020B060402020202020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2CFE20A9-D636-F766-3048-2993B1FEDEC0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73151" y="524141"/>
            <a:ext cx="2024636" cy="142683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BE06D57-9493-9886-1CC0-BB3B5706C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363" y="350504"/>
            <a:ext cx="1671433" cy="167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459225-A4AD-8B3F-9AE6-169E1E0015E3}"/>
              </a:ext>
            </a:extLst>
          </p:cNvPr>
          <p:cNvSpPr txBox="1"/>
          <p:nvPr/>
        </p:nvSpPr>
        <p:spPr>
          <a:xfrm>
            <a:off x="221386" y="2151865"/>
            <a:ext cx="6116439" cy="56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marR="1045210" indent="-971550" algn="ctr">
              <a:lnSpc>
                <a:spcPts val="1380"/>
              </a:lnSpc>
              <a:spcBef>
                <a:spcPts val="800"/>
              </a:spcBef>
              <a:spcAft>
                <a:spcPts val="15"/>
              </a:spcAft>
              <a:buNone/>
              <a:tabLst>
                <a:tab pos="1143000" algn="l"/>
              </a:tabLst>
            </a:pPr>
            <a:r>
              <a:rPr lang="en-US" sz="1800" b="1" dirty="0">
                <a:ln>
                  <a:noFill/>
                </a:ln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Shruti" panose="020B0502040204020203" pitchFamily="34" charset="0"/>
              </a:rPr>
              <a:t> </a:t>
            </a:r>
            <a:r>
              <a:rPr lang="en-US" sz="1800" dirty="0">
                <a:ln>
                  <a:noFill/>
                </a:ln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Shruti" panose="020B0502040204020203" pitchFamily="34" charset="0"/>
              </a:rPr>
              <a:t>DHARMSINH DESAI UNIVERSITY</a:t>
            </a:r>
            <a:endParaRPr lang="en-IN" sz="18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Shruti" panose="020B0502040204020203" pitchFamily="34" charset="0"/>
            </a:endParaRPr>
          </a:p>
          <a:p>
            <a:pPr marL="1314450" marR="1330960" indent="-971550" algn="ctr">
              <a:lnSpc>
                <a:spcPts val="1380"/>
              </a:lnSpc>
              <a:spcBef>
                <a:spcPts val="800"/>
              </a:spcBef>
              <a:spcAft>
                <a:spcPts val="15"/>
              </a:spcAft>
              <a:buNone/>
              <a:tabLst>
                <a:tab pos="1143000" algn="l"/>
              </a:tabLst>
            </a:pPr>
            <a:r>
              <a:rPr lang="en-US" sz="1800" dirty="0">
                <a:ln>
                  <a:noFill/>
                </a:ln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Shruti" panose="020B0502040204020203" pitchFamily="34" charset="0"/>
              </a:rPr>
              <a:t>      NADIAD-387001, GUJARAT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532EDC-8D17-AA0C-5097-9D1BD3B5B714}"/>
              </a:ext>
            </a:extLst>
          </p:cNvPr>
          <p:cNvSpPr txBox="1"/>
          <p:nvPr/>
        </p:nvSpPr>
        <p:spPr>
          <a:xfrm>
            <a:off x="10570278" y="2116240"/>
            <a:ext cx="5153316" cy="56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marR="1045210" indent="-971550" algn="ctr">
              <a:lnSpc>
                <a:spcPts val="1380"/>
              </a:lnSpc>
              <a:spcBef>
                <a:spcPts val="800"/>
              </a:spcBef>
              <a:spcAft>
                <a:spcPts val="15"/>
              </a:spcAft>
              <a:buNone/>
              <a:tabLst>
                <a:tab pos="1143000" algn="l"/>
              </a:tabLst>
            </a:pPr>
            <a:r>
              <a:rPr lang="en-US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ROIMA INTELLIGENCE </a:t>
            </a:r>
          </a:p>
          <a:p>
            <a:pPr marL="1314450" marR="1045210" indent="-971550" algn="ctr">
              <a:lnSpc>
                <a:spcPts val="1380"/>
              </a:lnSpc>
              <a:spcBef>
                <a:spcPts val="800"/>
              </a:spcBef>
              <a:spcAft>
                <a:spcPts val="15"/>
              </a:spcAft>
              <a:buNone/>
              <a:tabLst>
                <a:tab pos="1143000" algn="l"/>
              </a:tabLst>
            </a:pPr>
            <a:r>
              <a:rPr lang="en-US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AHMEDABAD 380058</a:t>
            </a:r>
            <a:r>
              <a:rPr lang="en-US" sz="1800" dirty="0">
                <a:ln>
                  <a:noFill/>
                </a:ln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Shruti" panose="020B0502040204020203" pitchFamily="34" charset="0"/>
              </a:rPr>
              <a:t>, GUJARAT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8E0024-1FE5-6D9A-332A-ED8B367CB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7722" y="7786987"/>
            <a:ext cx="1924149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7316C-9C0D-51CA-BE2A-9FA06A027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FE9ADB4-1661-76D3-39BC-E8792EED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7722" y="7786987"/>
            <a:ext cx="1924149" cy="349268"/>
          </a:xfrm>
          <a:prstGeom prst="rect">
            <a:avLst/>
          </a:prstGeom>
        </p:spPr>
      </p:pic>
      <p:pic>
        <p:nvPicPr>
          <p:cNvPr id="15" name="Image 0">
            <a:extLst>
              <a:ext uri="{FF2B5EF4-FFF2-40B4-BE49-F238E27FC236}">
                <a16:creationId xmlns:a16="http://schemas.microsoft.com/office/drawing/2014/main" id="{89AED13D-8BE1-E404-C09E-7C5E47C1F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6713" y="0"/>
            <a:ext cx="4617995" cy="82296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AD92C1F-8959-282D-FCD2-A0E31C7F1B3E}"/>
              </a:ext>
            </a:extLst>
          </p:cNvPr>
          <p:cNvSpPr/>
          <p:nvPr/>
        </p:nvSpPr>
        <p:spPr>
          <a:xfrm>
            <a:off x="639677" y="1370313"/>
            <a:ext cx="5483721" cy="725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omorrow Semi Bold" pitchFamily="34" charset="0"/>
              </a:rPr>
              <a:t>Traditional Approach</a:t>
            </a:r>
            <a:endParaRPr lang="en-US" sz="44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F75F9C7-EFFD-E293-019D-69F66DAC2ACA}"/>
              </a:ext>
            </a:extLst>
          </p:cNvPr>
          <p:cNvSpPr/>
          <p:nvPr/>
        </p:nvSpPr>
        <p:spPr>
          <a:xfrm>
            <a:off x="874267" y="5287259"/>
            <a:ext cx="85841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</a:rPr>
              <a:t>Process was time consuming and prone to human errors.</a:t>
            </a: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A5586E51-E07A-2DA7-B1BC-164CB1121EAC}"/>
              </a:ext>
            </a:extLst>
          </p:cNvPr>
          <p:cNvSpPr/>
          <p:nvPr/>
        </p:nvSpPr>
        <p:spPr>
          <a:xfrm>
            <a:off x="874267" y="4277517"/>
            <a:ext cx="838274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</a:rPr>
              <a:t>HR tasks such as travel approval and expense submission, Job management and internal communication were handled manually through emails or forms.</a:t>
            </a:r>
            <a:endParaRPr lang="en-US" sz="17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C41063E0-F62A-69C8-F1F1-5A3E16AF7C1B}"/>
              </a:ext>
            </a:extLst>
          </p:cNvPr>
          <p:cNvSpPr/>
          <p:nvPr/>
        </p:nvSpPr>
        <p:spPr>
          <a:xfrm>
            <a:off x="874267" y="3150841"/>
            <a:ext cx="838274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</a:rPr>
              <a:t>Employee record were store in physical or basic spreadsheets, making it difficult to manage. </a:t>
            </a:r>
            <a:endParaRPr lang="en-US" sz="17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3F0402D-F949-E1F4-368D-5E1C8AB0CF61}"/>
              </a:ext>
            </a:extLst>
          </p:cNvPr>
          <p:cNvSpPr/>
          <p:nvPr/>
        </p:nvSpPr>
        <p:spPr>
          <a:xfrm>
            <a:off x="874267" y="4924357"/>
            <a:ext cx="85841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99482B57-323A-A16B-5A09-38C5E283E8D1}"/>
              </a:ext>
            </a:extLst>
          </p:cNvPr>
          <p:cNvSpPr/>
          <p:nvPr/>
        </p:nvSpPr>
        <p:spPr>
          <a:xfrm>
            <a:off x="874267" y="5951603"/>
            <a:ext cx="82800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</a:rPr>
              <a:t>Tracking employee activities and documents was not centralized, causing delays and confusion.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581533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05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41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What is HRMS?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9988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A comprehensive digital solution that modernizes internal organizational workflows, providing a unified platform for employees, managers, and HR professionals to interact seamlessly.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10224" y="22709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Core Purpose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10224" y="287720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Create transparent, automated environment for internal operations—from travel logistics to employee engagement and resource scheduling.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578310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20604" y="48051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Travel &amp; Expenses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0604" y="529554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Automated tracking with 10-day submission window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4578310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55362" y="48051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Social Engagement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55362" y="529554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Achievement feed with automated celebrations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112073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20604" y="6338888"/>
            <a:ext cx="30635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Resource Scheduling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0604" y="682930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Fair-rotation algorithm for office amenities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6112073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655362" y="63388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Recruitment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55362" y="6829306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Job sharing and referral tracking system</a:t>
            </a:r>
            <a:endParaRPr lang="en-US" sz="1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B26847-96DD-DC30-1205-4F55116B5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7722" y="7786987"/>
            <a:ext cx="1924149" cy="349268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5C75438F-C734-0118-83AE-36E54C0858E6}"/>
              </a:ext>
            </a:extLst>
          </p:cNvPr>
          <p:cNvSpPr/>
          <p:nvPr/>
        </p:nvSpPr>
        <p:spPr>
          <a:xfrm>
            <a:off x="793790" y="1705307"/>
            <a:ext cx="12624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Purpose : Streamlining organizational operations through automation and intelligent resource management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3282" y="662583"/>
            <a:ext cx="5477947" cy="6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Technology Stack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3282" y="1664732"/>
            <a:ext cx="547688" cy="547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65526" y="1664732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Spring Boot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065526" y="2133957"/>
            <a:ext cx="6797993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Robust RESTful API with JWT-based authentication and Spring Security for enterprise-grade backend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3282" y="3246120"/>
            <a:ext cx="547688" cy="5476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65526" y="3246120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React &amp; TypeScript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065526" y="3715345"/>
            <a:ext cx="6797993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Component-based UI development with type safety, Vite for fast building, and Tailwind CSS for modern design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3282" y="4827508"/>
            <a:ext cx="547688" cy="5476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65526" y="4827508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MS SQL Server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065526" y="5296733"/>
            <a:ext cx="6797993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Structured data management with complex relationship handling and recursive organizational chart support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3282" y="6408896"/>
            <a:ext cx="547688" cy="5476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65526" y="6408896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TanStack Query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7065526" y="6878122"/>
            <a:ext cx="6797993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Advanced server-state management with caching, background synchronization, and infinite scrolling</a:t>
            </a:r>
            <a:endParaRPr lang="en-US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E6D42B-16D3-CFCF-3696-B9E82001AA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644723"/>
            <a:ext cx="5419725" cy="67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Features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8666" y="1736527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666" y="2074545"/>
            <a:ext cx="6452949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666" y="2243852"/>
            <a:ext cx="4146709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Travel Assignment &amp; Logistics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666" y="2706886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HR creates travel plans with document uploads; automated SMTP notifications sent to employees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18784" y="1736527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18784" y="2074545"/>
            <a:ext cx="6452949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18784" y="2243852"/>
            <a:ext cx="4012168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Expense Submission System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18784" y="2706886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10-day validation rule enforces financial discipline; digital proof uploads with HR approval workflow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666" y="3754993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666" y="4093012"/>
            <a:ext cx="6452949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8666" y="4262318"/>
            <a:ext cx="4295775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Fair-Rotation Game Scheduling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8666" y="4725353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Round-robin algorithm ensures equitable access to office games; prevents slot hogging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18784" y="3754993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18784" y="4093012"/>
            <a:ext cx="6452949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18784" y="4262318"/>
            <a:ext cx="3460909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Social Achievement Feed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18784" y="4725353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Infinite scroll performance; automated birthday and anniversary posts; engagement tracking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8666" y="5773460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8666" y="6111478"/>
            <a:ext cx="6452949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8666" y="6280785"/>
            <a:ext cx="2744986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Job Referral Module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58666" y="6743819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Share positions with friends; track candidate status; referral bonus tracking system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18784" y="5773460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06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418784" y="6111478"/>
            <a:ext cx="6452949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18784" y="6280785"/>
            <a:ext cx="2870121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Interactive Org Chart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418784" y="6743819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Recursive hierarchy visualization; debounced search; reporting line clarity</a:t>
            </a:r>
            <a:endParaRPr lang="en-US" sz="17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D7B6A16-63C2-8311-9229-AE7B96D42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5568077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Architecture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2629019"/>
            <a:ext cx="3199567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Decoupled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56" y="3166229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Separate frontend and backend layers communicate through RESTful APIs, ensuring maintainability and scalability.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4035385"/>
            <a:ext cx="366772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Role-Based Access Control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56" y="4572595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JWT tokens enforce strict security—Employee, Manager, and HR roles have distinct permissions at every API endpoint.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56" y="5441752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Integrity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56" y="5978962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MS SQL Server handles complex relationships including recursive organizational hierarchy and transactional game bookings.</a:t>
            </a:r>
            <a:endParaRPr lang="en-US" sz="16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91DE37-41F0-4EAA-08B4-77AC0B340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77687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Implementation Highlights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4196358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Agile Development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12-week sprint-based approach with iterative module development and continuous testing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840593"/>
            <a:ext cx="4196358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962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Spring Security with JWT for stateless authentication and role-based endpoint protection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840593"/>
            <a:ext cx="4196358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0133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Recursive organizational chart with manager-employee hierarchy and transactional relationships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Frontend State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TanStack Query for caching, infinite scrolling, and debouncing for optimal user experience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SMTP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Automated email notifications for travel assignments, game bookings, and celebrations</a:t>
            </a:r>
            <a:endParaRPr lang="en-US" sz="1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272DC3A-F0EA-9F83-EB4B-C16A9E206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6716" y="1320046"/>
            <a:ext cx="5216723" cy="55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Challenges &amp; Solutions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106716" y="2081689"/>
            <a:ext cx="7903369" cy="1601153"/>
          </a:xfrm>
          <a:prstGeom prst="roundRect">
            <a:avLst>
              <a:gd name="adj" fmla="val 6853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083856" y="2081689"/>
            <a:ext cx="91440" cy="1601153"/>
          </a:xfrm>
          <a:prstGeom prst="roundRect">
            <a:avLst>
              <a:gd name="adj" fmla="val 29078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375321" y="2281714"/>
            <a:ext cx="264175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Fair-Rotation Algorithm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75321" y="2641759"/>
            <a:ext cx="7434739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Challenge:</a:t>
            </a:r>
            <a:r>
              <a:rPr lang="en-US" sz="13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Preventing race conditions when two users book same slot simultaneously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5321" y="2977515"/>
            <a:ext cx="7434739" cy="50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Solution:</a:t>
            </a:r>
            <a:r>
              <a:rPr lang="en-US" sz="13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SQL-level constraints with database transactions and queue-based logic tracking player participation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06716" y="3821311"/>
            <a:ext cx="7903369" cy="1601153"/>
          </a:xfrm>
          <a:prstGeom prst="roundRect">
            <a:avLst>
              <a:gd name="adj" fmla="val 6853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083856" y="3821311"/>
            <a:ext cx="91440" cy="1601153"/>
          </a:xfrm>
          <a:prstGeom prst="roundRect">
            <a:avLst>
              <a:gd name="adj" fmla="val 29078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375321" y="4021336"/>
            <a:ext cx="2215753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10-Day Validation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75321" y="4381381"/>
            <a:ext cx="7434739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Challenge:</a:t>
            </a:r>
            <a:r>
              <a:rPr lang="en-US" sz="13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Enforcing strict submission window across timezone differences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5321" y="4717137"/>
            <a:ext cx="7434739" cy="50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Solution:</a:t>
            </a:r>
            <a:r>
              <a:rPr lang="en-US" sz="13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Precise date-logic handling between backend and frontend with automatic deadline checks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06716" y="5560933"/>
            <a:ext cx="7903369" cy="1348502"/>
          </a:xfrm>
          <a:prstGeom prst="roundRect">
            <a:avLst>
              <a:gd name="adj" fmla="val 8137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083856" y="5560933"/>
            <a:ext cx="91440" cy="1348502"/>
          </a:xfrm>
          <a:prstGeom prst="roundRect">
            <a:avLst>
              <a:gd name="adj" fmla="val 29078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75321" y="5760958"/>
            <a:ext cx="2943463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Server State Management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375321" y="6121003"/>
            <a:ext cx="7434739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Challenge:</a:t>
            </a:r>
            <a:r>
              <a:rPr lang="en-US" sz="13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Managing complex data-fetching without Redux boilerplate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375321" y="6456759"/>
            <a:ext cx="7434739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Solution:</a:t>
            </a:r>
            <a:r>
              <a:rPr lang="en-US" sz="13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TanStack Query for professional features like infinite scrolling and caching</a:t>
            </a:r>
            <a:endParaRPr lang="en-US" sz="13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1F8FE9-6C4A-15F5-A8C5-40874F36E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8814" y="443865"/>
            <a:ext cx="4942165" cy="486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Travel &amp; Expense Module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938814" y="1341358"/>
            <a:ext cx="1947863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938814" y="5678091"/>
            <a:ext cx="155734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1938814" y="5920026"/>
            <a:ext cx="5322808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1938814" y="6043613"/>
            <a:ext cx="2201347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HR Creates Travel Plan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938814" y="6351270"/>
            <a:ext cx="5322808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Assign employees, destination, dates, upload tickets/visas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68659" y="5678091"/>
            <a:ext cx="155734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68659" y="5920026"/>
            <a:ext cx="5322927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7368659" y="6043613"/>
            <a:ext cx="2887980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Automated Email Notification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68659" y="6351270"/>
            <a:ext cx="5322927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SMTP sends documents to all selected employees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938814" y="6785372"/>
            <a:ext cx="155734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938814" y="7027307"/>
            <a:ext cx="5322808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1938814" y="7150894"/>
            <a:ext cx="2766060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Employee Submits Expense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938814" y="7458551"/>
            <a:ext cx="5322808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10-day validation, receipt upload, automatic status update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368659" y="6785372"/>
            <a:ext cx="155734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368659" y="7027307"/>
            <a:ext cx="5322927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7368659" y="7150894"/>
            <a:ext cx="2201347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HR Approval Workflow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368659" y="7458551"/>
            <a:ext cx="5322927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Proof preview, approve/reject with remarks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68F8345-A3B7-D6FC-E470-B2379E203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65EC72A-FCA8-9121-C078-ACBD9526D0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814" y="1268078"/>
            <a:ext cx="10752771" cy="3997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378" y="580906"/>
            <a:ext cx="8289250" cy="66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Travel &amp; Expense Management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739378" y="6828234"/>
            <a:ext cx="8368189" cy="652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Grid view of travel plans showing routes, dates, and assigned team members with document tracking.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731878" y="6420088"/>
            <a:ext cx="26441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Travel Management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458602" y="5849183"/>
            <a:ext cx="4268033" cy="979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5EBFE17-554D-A34E-D0ED-25A1A71E583B}"/>
              </a:ext>
            </a:extLst>
          </p:cNvPr>
          <p:cNvSpPr/>
          <p:nvPr/>
        </p:nvSpPr>
        <p:spPr>
          <a:xfrm>
            <a:off x="9312265" y="5441037"/>
            <a:ext cx="26441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Travel-Document Management</a:t>
            </a:r>
            <a:endParaRPr lang="en-US" sz="205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BC0F618-16F0-8706-9740-287529FBCD61}"/>
              </a:ext>
            </a:extLst>
          </p:cNvPr>
          <p:cNvSpPr/>
          <p:nvPr/>
        </p:nvSpPr>
        <p:spPr>
          <a:xfrm>
            <a:off x="9312265" y="5881022"/>
            <a:ext cx="4268034" cy="652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Document Upload window for user to upload document related travel.</a:t>
            </a:r>
            <a:endParaRPr lang="en-US" sz="16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33139F-5416-8856-E116-1FC2C890D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A6A972-EB2D-C9F1-55CF-676A872B2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625774"/>
            <a:ext cx="8192767" cy="44096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036887-0F72-1F3F-9386-2118AD471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9464" y="1779247"/>
            <a:ext cx="5097427" cy="33672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7839"/>
            <a:ext cx="74041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Expense Tracking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793456"/>
            <a:ext cx="32525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Submit Expense Claim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28387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Digital form for employees to log expenses by entering amount, date, and uploading receipt proof.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235893" y="4793456"/>
            <a:ext cx="37391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Travel Plan with Expenses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28387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Integrated view showing travel details alongside associated expense claims and approval status.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677995" y="4793456"/>
            <a:ext cx="3123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HR can Reject Expense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28387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HR can reject a expense of a particular travel if HR finds the expense proof inappropriate </a:t>
            </a:r>
            <a:r>
              <a:rPr lang="en-US" sz="1750" dirty="0" err="1">
                <a:latin typeface="Tomorrow" pitchFamily="34" charset="0"/>
                <a:ea typeface="Tomorrow" pitchFamily="34" charset="-122"/>
                <a:cs typeface="Tomorrow" pitchFamily="34" charset="-120"/>
              </a:rPr>
              <a:t>or.not</a:t>
            </a: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 valid reason for that expense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30903C-4BB7-AE6F-0530-0987E3249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B66D62-0E5B-3CEE-D05F-DCAB6A977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597726"/>
            <a:ext cx="4022370" cy="31276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251BA4-6FCA-96C5-9352-BE996C2EE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194" y="1612708"/>
            <a:ext cx="4235767" cy="31127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9DAD86-DD20-63ED-0BA0-E003F8BA5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5955" y="1529774"/>
            <a:ext cx="4022370" cy="31956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255" y="557213"/>
            <a:ext cx="7555944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Social &amp; Engagement Module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9255" y="2226231"/>
            <a:ext cx="2533174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950" dirty="0"/>
          </a:p>
        </p:txBody>
      </p:sp>
      <p:sp>
        <p:nvSpPr>
          <p:cNvPr id="7" name="Shape 3"/>
          <p:cNvSpPr/>
          <p:nvPr/>
        </p:nvSpPr>
        <p:spPr>
          <a:xfrm>
            <a:off x="709255" y="5878235"/>
            <a:ext cx="4283273" cy="1797129"/>
          </a:xfrm>
          <a:prstGeom prst="roundRect">
            <a:avLst>
              <a:gd name="adj" fmla="val 1692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934760" y="6103739"/>
            <a:ext cx="2533174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Achievement Feed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34760" y="6529030"/>
            <a:ext cx="3832265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Posts with infinite scrolling, likes, comments in reverse chronological order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173504" y="5878235"/>
            <a:ext cx="4283273" cy="1797129"/>
          </a:xfrm>
          <a:prstGeom prst="roundRect">
            <a:avLst>
              <a:gd name="adj" fmla="val 1692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5399008" y="6103739"/>
            <a:ext cx="3109913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Automated Celebrations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399008" y="6529030"/>
            <a:ext cx="3832265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Cron job generates birthday and work anniversary posts from employee profiles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37752" y="5878235"/>
            <a:ext cx="4283273" cy="1797129"/>
          </a:xfrm>
          <a:prstGeom prst="roundRect">
            <a:avLst>
              <a:gd name="adj" fmla="val 1692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9863257" y="6103739"/>
            <a:ext cx="2660094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Notifications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9863257" y="6529030"/>
            <a:ext cx="3832265" cy="613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alerts for likes, comments, and milestone recognitions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0D2C69C-0A05-E0BA-EDE4-E5378BAEB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A59B71-3AD3-A974-437D-82AA404DB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078" y="1353146"/>
            <a:ext cx="9051310" cy="4362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689967"/>
            <a:ext cx="7859673" cy="67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Social Engagement Platform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58666" y="6467951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Company Feed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8666" y="7013853"/>
            <a:ext cx="8338304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Published posts featuring images with tags for categories like Fun and Games.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9633466" y="5315188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Create New Post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9633466" y="5861090"/>
            <a:ext cx="4245769" cy="10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Standard modal with text area, visibility settings, and attachment option for content creation.</a:t>
            </a:r>
            <a:endParaRPr lang="en-US" sz="1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FAE215-83FA-DE5D-7E58-71FA8FC58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AC5136-0C9D-E3E9-C94C-C09B779E0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666" y="1386516"/>
            <a:ext cx="8130297" cy="50814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F2B02C-832D-1968-6C8D-670495EB8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8874" y="843077"/>
            <a:ext cx="4754001" cy="44816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0324"/>
            <a:ext cx="69625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Automated Celebrations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73053"/>
            <a:ext cx="33562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Generated Post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6347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Automated birthday and work anniversary celebrations posted to feed with personalized messages.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456884" y="5373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Comment Section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586347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Thread view under posts where users can reply, featuring likes and timestamps for engagement.</a:t>
            </a:r>
            <a:endParaRPr lang="en-US" sz="17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DB1F10-F77A-214C-14C0-3FFECA633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8F9CB9-39A7-2E4B-E7F3-026EDA5D6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85191"/>
            <a:ext cx="5911810" cy="26600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F3A8BF-A668-B1E2-2F30-6238731B8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7" y="495301"/>
            <a:ext cx="6145120" cy="46499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4273" y="439222"/>
            <a:ext cx="3993356" cy="49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Job Module</a:t>
            </a:r>
            <a:endParaRPr lang="en-US" sz="3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273" y="4903946"/>
            <a:ext cx="5510808" cy="6388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63936" y="5655231"/>
            <a:ext cx="1996678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Job Board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1963936" y="5972175"/>
            <a:ext cx="5191482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HR posts jobs with JD PDF, salary, category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81" y="4903946"/>
            <a:ext cx="5510927" cy="6388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74744" y="5655231"/>
            <a:ext cx="1996678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Share &amp; Refer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7474744" y="5972175"/>
            <a:ext cx="5191601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Employees share via email or upload CV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4273" y="6349603"/>
            <a:ext cx="5510808" cy="63888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63936" y="7100888"/>
            <a:ext cx="1996678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HR Review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1963936" y="7417832"/>
            <a:ext cx="5191482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CV sent to assigned reviewer automatically</a:t>
            </a:r>
            <a:endParaRPr lang="en-US" sz="12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081" y="6349603"/>
            <a:ext cx="5510927" cy="63888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474744" y="7100888"/>
            <a:ext cx="1996678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Track Status</a:t>
            </a:r>
            <a:endParaRPr lang="en-US" sz="1550" dirty="0"/>
          </a:p>
        </p:txBody>
      </p:sp>
      <p:sp>
        <p:nvSpPr>
          <p:cNvPr id="18" name="Text 10"/>
          <p:cNvSpPr/>
          <p:nvPr/>
        </p:nvSpPr>
        <p:spPr>
          <a:xfrm>
            <a:off x="7474744" y="7417832"/>
            <a:ext cx="5191601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Referral bonuses linked to referrer</a:t>
            </a:r>
            <a:endParaRPr lang="en-US" sz="12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CD92A4A-0349-F4E1-B4A7-2CBB330263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20" name="Image 0">
            <a:extLst>
              <a:ext uri="{FF2B5EF4-FFF2-40B4-BE49-F238E27FC236}">
                <a16:creationId xmlns:a16="http://schemas.microsoft.com/office/drawing/2014/main" id="{0C14CF27-0939-4F07-A2F0-30113C1535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0575" y="439222"/>
            <a:ext cx="8065770" cy="4404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735" y="577334"/>
            <a:ext cx="6744653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Job Board &amp; Recruitment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34735" y="6321147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Job Board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34735" y="6843474"/>
            <a:ext cx="8375333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Recruitment interface showing open and closed positions with titles, categories, and salary details.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884" y="1812965"/>
            <a:ext cx="4422401" cy="38967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29894" y="5928360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Post New Job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629894" y="6450687"/>
            <a:ext cx="4273391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Form for HR to create job listings requiring title, salary, category, and job description upload.</a:t>
            </a:r>
            <a:endParaRPr lang="en-US" sz="16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A0D435-0F97-7107-6137-BDF278A2B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75CB3D-C07E-99D5-4EFB-3AF7C484C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15" y="1427678"/>
            <a:ext cx="8375333" cy="43834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1951"/>
            <a:ext cx="71932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Referral Tracking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793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Share Job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28387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Quick sharing tool allowing users to send job details to multiple recipients via email.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061272" y="6018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Refer a Friend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81781" y="656814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Employee referral form to enter friend's details and upload resume for potential roles.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677995" y="4793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Referrals Tracking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28387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Table view for recruiters to monitor candidates showing CV links, status, and referral details.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C89E27-127E-1C6A-D5BF-E45DA2C2B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AC41DA-D8D8-FF06-9C4B-EC460F829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98156"/>
            <a:ext cx="3508703" cy="1811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B7F9BD6-064B-8FE2-2C64-0A182EE52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781" y="2498156"/>
            <a:ext cx="3630704" cy="34223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7DA217-5DBE-EAC9-3B18-A3BDFB228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396" y="1662745"/>
            <a:ext cx="5016758" cy="31307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899" y="603647"/>
            <a:ext cx="6617137" cy="637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Game Scheduling Module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3899" y="2368510"/>
            <a:ext cx="2549604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13899" y="6124099"/>
            <a:ext cx="4278630" cy="1501854"/>
          </a:xfrm>
          <a:prstGeom prst="roundRect">
            <a:avLst>
              <a:gd name="adj" fmla="val 7306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691039" y="6124099"/>
            <a:ext cx="91440" cy="1501854"/>
          </a:xfrm>
          <a:prstGeom prst="roundRect">
            <a:avLst>
              <a:gd name="adj" fmla="val 3346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1009293" y="6350913"/>
            <a:ext cx="304097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Fair-Rotation Algorithm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009293" y="6779538"/>
            <a:ext cx="3756422" cy="61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Round-robin queue ensures equal opportunity, prevents slot hogging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175885" y="6124099"/>
            <a:ext cx="4278630" cy="1501854"/>
          </a:xfrm>
          <a:prstGeom prst="roundRect">
            <a:avLst>
              <a:gd name="adj" fmla="val 7306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5153025" y="6124099"/>
            <a:ext cx="91440" cy="1501854"/>
          </a:xfrm>
          <a:prstGeom prst="roundRect">
            <a:avLst>
              <a:gd name="adj" fmla="val 3346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471279" y="6350913"/>
            <a:ext cx="2549604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30-Minute Slots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471279" y="6779538"/>
            <a:ext cx="3756422" cy="61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Pool, chess, foosball booking with calendar invites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637871" y="6124099"/>
            <a:ext cx="4278630" cy="1501854"/>
          </a:xfrm>
          <a:prstGeom prst="roundRect">
            <a:avLst>
              <a:gd name="adj" fmla="val 7306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9615011" y="6124099"/>
            <a:ext cx="91440" cy="1501854"/>
          </a:xfrm>
          <a:prstGeom prst="roundRect">
            <a:avLst>
              <a:gd name="adj" fmla="val 3346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9933265" y="6350913"/>
            <a:ext cx="2549604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Waiting List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9933265" y="6779538"/>
            <a:ext cx="3756422" cy="61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Auto-notification when slots become available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B5360D-173E-6AA1-E74D-2BAA3474C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E2B4EB-8350-CD16-CB74-0E2EDF6A9F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164" y="1467803"/>
            <a:ext cx="10188651" cy="4420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735" y="577334"/>
            <a:ext cx="6730960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Game Zone &amp; Scheduling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34735" y="6317813"/>
            <a:ext cx="2624138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Game Zone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34735" y="6840022"/>
            <a:ext cx="8375333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Employee engagement dashboard showing upcoming bookings for pool, cards, and other games with dates and times.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629894" y="5456515"/>
            <a:ext cx="2624138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Book a Game Slot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629894" y="5978723"/>
            <a:ext cx="4273391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Booking modal allowing employees to select game, date, and available time slot with automatic calendar invites.</a:t>
            </a:r>
            <a:endParaRPr lang="en-US" sz="16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4C092-84D8-F52A-B81A-12140F203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918336-0AEE-F82A-BDBC-5876A1C9B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36" y="1767481"/>
            <a:ext cx="8375332" cy="43561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AC9AC1-0EFE-F049-C5FC-39329D626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0091" y="1000125"/>
            <a:ext cx="4912995" cy="42331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0817" y="781597"/>
            <a:ext cx="88301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Game Management &amp; Fairness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12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Waiting List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102423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View showing game bookings currently on waiting list including game name, date, and requested time slots.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235893" y="4612005"/>
            <a:ext cx="37396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Game Types Management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10242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Administrative table listing all available office games with operating hours, slot sizes, and max players.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677995" y="4612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Update Game Type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10242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Configuration form to edit specific parameters of games such as duration and player limits.</a:t>
            </a:r>
            <a:endParaRPr lang="en-US" sz="17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7BDDB5-021D-B04B-54DE-4F5106008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0A84A0-D78F-204B-DA22-A13339E53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946138"/>
            <a:ext cx="4401251" cy="24747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0FDF9B-90BC-482B-245D-9E78C7FBF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047" y="1944775"/>
            <a:ext cx="4036941" cy="24760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B17AA5-09CC-C1A7-BDBE-C9452949F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995" y="1944775"/>
            <a:ext cx="4158615" cy="24760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449" y="577810"/>
            <a:ext cx="6147197" cy="65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Administration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35449" y="6319361"/>
            <a:ext cx="2626638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User Management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35449" y="6842284"/>
            <a:ext cx="837414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Master list of all organization users displaying names, emails, roles, and current positions with access control.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629894" y="5087660"/>
            <a:ext cx="2626638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Notifications Center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629894" y="5610582"/>
            <a:ext cx="427255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Pop-up list of recent alerts including confirmed game slots, pending job referrals, and system updates.</a:t>
            </a:r>
            <a:endParaRPr lang="en-US" sz="16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4FB2A2-CD32-B325-E361-460C2CA41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251" y="7693938"/>
            <a:ext cx="1924149" cy="4329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086EA6-B264-9CD0-783E-AA1439D74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8302" y="2146434"/>
            <a:ext cx="4290023" cy="27465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E8E77C-CFD7-0130-7DD9-82B25CDB4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36" y="1429108"/>
            <a:ext cx="8373329" cy="46955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FA60FF-CB20-EE65-A096-95230858F519}"/>
              </a:ext>
            </a:extLst>
          </p:cNvPr>
          <p:cNvSpPr/>
          <p:nvPr/>
        </p:nvSpPr>
        <p:spPr>
          <a:xfrm>
            <a:off x="1033400" y="804829"/>
            <a:ext cx="6147197" cy="65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latin typeface="Tomorrow Semi Bold" pitchFamily="34" charset="0"/>
              </a:rPr>
              <a:t>Conclusion</a:t>
            </a:r>
            <a:endParaRPr lang="en-US" sz="41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FE9DED3-044D-45E1-3231-48713E757B53}"/>
              </a:ext>
            </a:extLst>
          </p:cNvPr>
          <p:cNvSpPr/>
          <p:nvPr/>
        </p:nvSpPr>
        <p:spPr>
          <a:xfrm>
            <a:off x="1043674" y="1671584"/>
            <a:ext cx="116654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omorrow" pitchFamily="34" charset="0"/>
              </a:rPr>
              <a:t>Built a robust, efficient system foundation that scales with growth while maintaining security and operational excellence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524CBA-001C-A401-3386-E84C3E6A7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43"/>
          <a:stretch>
            <a:fillRect/>
          </a:stretch>
        </p:blipFill>
        <p:spPr>
          <a:xfrm>
            <a:off x="1232901" y="2671280"/>
            <a:ext cx="11589248" cy="50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58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333" y="924878"/>
            <a:ext cx="6067544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Future Enhancements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33" y="1907381"/>
            <a:ext cx="1079063" cy="15656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39660" y="2123122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AI-Powered OCR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2039660" y="2583418"/>
            <a:ext cx="6349008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Automatically scan receipts to extract amounts, dates, and vendors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333" y="3473053"/>
            <a:ext cx="1079063" cy="1294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39660" y="3688794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Mobile Application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2039660" y="4149090"/>
            <a:ext cx="6349008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React Native app for instant receipt capture while traveling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333" y="4767977"/>
            <a:ext cx="1079063" cy="1294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39660" y="4983718"/>
            <a:ext cx="2847261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Analytics Dashboard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2039660" y="5444014"/>
            <a:ext cx="6349008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Interactive graphs for spending trends and resource usage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755333" y="6293882"/>
            <a:ext cx="7633335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The modular Spring Boot and React architecture allows easy integration of advanced features, ensuring long-term scalability and adaptability to evolving organizational needs.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73424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56083-BA09-1206-8B4C-1E1B8D5C0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26742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2885A74-DECA-7C5A-98BD-D2A835435B2E}"/>
              </a:ext>
            </a:extLst>
          </p:cNvPr>
          <p:cNvSpPr/>
          <p:nvPr/>
        </p:nvSpPr>
        <p:spPr>
          <a:xfrm>
            <a:off x="1009497" y="658368"/>
            <a:ext cx="4321032" cy="6517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52780" y="3910458"/>
            <a:ext cx="5376672" cy="21946"/>
          </a:xfrm>
          <a:custGeom>
            <a:avLst/>
            <a:gdLst>
              <a:gd name="csX0" fmla="*/ 0 w 5376672"/>
              <a:gd name="csY0" fmla="*/ 0 h 21946"/>
              <a:gd name="csX1" fmla="*/ 564551 w 5376672"/>
              <a:gd name="csY1" fmla="*/ 0 h 21946"/>
              <a:gd name="csX2" fmla="*/ 1290401 w 5376672"/>
              <a:gd name="csY2" fmla="*/ 0 h 21946"/>
              <a:gd name="csX3" fmla="*/ 1908719 w 5376672"/>
              <a:gd name="csY3" fmla="*/ 0 h 21946"/>
              <a:gd name="csX4" fmla="*/ 2473269 w 5376672"/>
              <a:gd name="csY4" fmla="*/ 0 h 21946"/>
              <a:gd name="csX5" fmla="*/ 3199120 w 5376672"/>
              <a:gd name="csY5" fmla="*/ 0 h 21946"/>
              <a:gd name="csX6" fmla="*/ 3871204 w 5376672"/>
              <a:gd name="csY6" fmla="*/ 0 h 21946"/>
              <a:gd name="csX7" fmla="*/ 4543288 w 5376672"/>
              <a:gd name="csY7" fmla="*/ 0 h 21946"/>
              <a:gd name="csX8" fmla="*/ 5376672 w 5376672"/>
              <a:gd name="csY8" fmla="*/ 0 h 21946"/>
              <a:gd name="csX9" fmla="*/ 5376672 w 5376672"/>
              <a:gd name="csY9" fmla="*/ 21946 h 21946"/>
              <a:gd name="csX10" fmla="*/ 4812121 w 5376672"/>
              <a:gd name="csY10" fmla="*/ 21946 h 21946"/>
              <a:gd name="csX11" fmla="*/ 4301338 w 5376672"/>
              <a:gd name="csY11" fmla="*/ 21946 h 21946"/>
              <a:gd name="csX12" fmla="*/ 3575487 w 5376672"/>
              <a:gd name="csY12" fmla="*/ 21946 h 21946"/>
              <a:gd name="csX13" fmla="*/ 3010936 w 5376672"/>
              <a:gd name="csY13" fmla="*/ 21946 h 21946"/>
              <a:gd name="csX14" fmla="*/ 2285086 w 5376672"/>
              <a:gd name="csY14" fmla="*/ 21946 h 21946"/>
              <a:gd name="csX15" fmla="*/ 1505468 w 5376672"/>
              <a:gd name="csY15" fmla="*/ 21946 h 21946"/>
              <a:gd name="csX16" fmla="*/ 887151 w 5376672"/>
              <a:gd name="csY16" fmla="*/ 21946 h 21946"/>
              <a:gd name="csX17" fmla="*/ 0 w 5376672"/>
              <a:gd name="csY17" fmla="*/ 21946 h 21946"/>
              <a:gd name="csX18" fmla="*/ 0 w 5376672"/>
              <a:gd name="csY18" fmla="*/ 0 h 21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376672" h="21946" fill="none" extrusionOk="0">
                <a:moveTo>
                  <a:pt x="0" y="0"/>
                </a:moveTo>
                <a:cubicBezTo>
                  <a:pt x="170305" y="15721"/>
                  <a:pt x="294063" y="-17098"/>
                  <a:pt x="564551" y="0"/>
                </a:cubicBezTo>
                <a:cubicBezTo>
                  <a:pt x="835039" y="17098"/>
                  <a:pt x="997912" y="-26321"/>
                  <a:pt x="1290401" y="0"/>
                </a:cubicBezTo>
                <a:cubicBezTo>
                  <a:pt x="1582890" y="26321"/>
                  <a:pt x="1778869" y="16546"/>
                  <a:pt x="1908719" y="0"/>
                </a:cubicBezTo>
                <a:cubicBezTo>
                  <a:pt x="2038569" y="-16546"/>
                  <a:pt x="2241825" y="15713"/>
                  <a:pt x="2473269" y="0"/>
                </a:cubicBezTo>
                <a:cubicBezTo>
                  <a:pt x="2704713" y="-15713"/>
                  <a:pt x="2860864" y="-34255"/>
                  <a:pt x="3199120" y="0"/>
                </a:cubicBezTo>
                <a:cubicBezTo>
                  <a:pt x="3537376" y="34255"/>
                  <a:pt x="3592823" y="7145"/>
                  <a:pt x="3871204" y="0"/>
                </a:cubicBezTo>
                <a:cubicBezTo>
                  <a:pt x="4149585" y="-7145"/>
                  <a:pt x="4254771" y="19685"/>
                  <a:pt x="4543288" y="0"/>
                </a:cubicBezTo>
                <a:cubicBezTo>
                  <a:pt x="4831805" y="-19685"/>
                  <a:pt x="5185276" y="-32410"/>
                  <a:pt x="5376672" y="0"/>
                </a:cubicBezTo>
                <a:cubicBezTo>
                  <a:pt x="5376963" y="10793"/>
                  <a:pt x="5377733" y="17359"/>
                  <a:pt x="5376672" y="21946"/>
                </a:cubicBezTo>
                <a:cubicBezTo>
                  <a:pt x="5193652" y="30813"/>
                  <a:pt x="4959297" y="-1803"/>
                  <a:pt x="4812121" y="21946"/>
                </a:cubicBezTo>
                <a:cubicBezTo>
                  <a:pt x="4664945" y="45695"/>
                  <a:pt x="4416092" y="15443"/>
                  <a:pt x="4301338" y="21946"/>
                </a:cubicBezTo>
                <a:cubicBezTo>
                  <a:pt x="4186584" y="28449"/>
                  <a:pt x="3868070" y="3443"/>
                  <a:pt x="3575487" y="21946"/>
                </a:cubicBezTo>
                <a:cubicBezTo>
                  <a:pt x="3282904" y="40449"/>
                  <a:pt x="3258735" y="9700"/>
                  <a:pt x="3010936" y="21946"/>
                </a:cubicBezTo>
                <a:cubicBezTo>
                  <a:pt x="2763137" y="34192"/>
                  <a:pt x="2591359" y="55590"/>
                  <a:pt x="2285086" y="21946"/>
                </a:cubicBezTo>
                <a:cubicBezTo>
                  <a:pt x="1978813" y="-11698"/>
                  <a:pt x="1850363" y="25189"/>
                  <a:pt x="1505468" y="21946"/>
                </a:cubicBezTo>
                <a:cubicBezTo>
                  <a:pt x="1160573" y="18703"/>
                  <a:pt x="1056506" y="-8472"/>
                  <a:pt x="887151" y="21946"/>
                </a:cubicBezTo>
                <a:cubicBezTo>
                  <a:pt x="717796" y="52364"/>
                  <a:pt x="227403" y="-18989"/>
                  <a:pt x="0" y="21946"/>
                </a:cubicBezTo>
                <a:cubicBezTo>
                  <a:pt x="-1022" y="13889"/>
                  <a:pt x="-860" y="9419"/>
                  <a:pt x="0" y="0"/>
                </a:cubicBezTo>
                <a:close/>
              </a:path>
              <a:path w="5376672" h="21946" stroke="0" extrusionOk="0">
                <a:moveTo>
                  <a:pt x="0" y="0"/>
                </a:moveTo>
                <a:cubicBezTo>
                  <a:pt x="225540" y="9502"/>
                  <a:pt x="387194" y="-20462"/>
                  <a:pt x="618317" y="0"/>
                </a:cubicBezTo>
                <a:cubicBezTo>
                  <a:pt x="849440" y="20462"/>
                  <a:pt x="939506" y="-14980"/>
                  <a:pt x="1129101" y="0"/>
                </a:cubicBezTo>
                <a:cubicBezTo>
                  <a:pt x="1318696" y="14980"/>
                  <a:pt x="1681708" y="-3103"/>
                  <a:pt x="1908719" y="0"/>
                </a:cubicBezTo>
                <a:cubicBezTo>
                  <a:pt x="2135730" y="3103"/>
                  <a:pt x="2346561" y="23845"/>
                  <a:pt x="2527036" y="0"/>
                </a:cubicBezTo>
                <a:cubicBezTo>
                  <a:pt x="2707511" y="-23845"/>
                  <a:pt x="2872188" y="17583"/>
                  <a:pt x="3145353" y="0"/>
                </a:cubicBezTo>
                <a:cubicBezTo>
                  <a:pt x="3418518" y="-17583"/>
                  <a:pt x="3713258" y="-27342"/>
                  <a:pt x="3924971" y="0"/>
                </a:cubicBezTo>
                <a:cubicBezTo>
                  <a:pt x="4136684" y="27342"/>
                  <a:pt x="4288429" y="-12251"/>
                  <a:pt x="4489521" y="0"/>
                </a:cubicBezTo>
                <a:cubicBezTo>
                  <a:pt x="4690613" y="12251"/>
                  <a:pt x="5116717" y="-26469"/>
                  <a:pt x="5376672" y="0"/>
                </a:cubicBezTo>
                <a:cubicBezTo>
                  <a:pt x="5376914" y="5666"/>
                  <a:pt x="5377200" y="12789"/>
                  <a:pt x="5376672" y="21946"/>
                </a:cubicBezTo>
                <a:cubicBezTo>
                  <a:pt x="5145130" y="-5765"/>
                  <a:pt x="4963583" y="26402"/>
                  <a:pt x="4812121" y="21946"/>
                </a:cubicBezTo>
                <a:cubicBezTo>
                  <a:pt x="4660659" y="17490"/>
                  <a:pt x="4340354" y="-6729"/>
                  <a:pt x="4140037" y="21946"/>
                </a:cubicBezTo>
                <a:cubicBezTo>
                  <a:pt x="3939720" y="50621"/>
                  <a:pt x="3820721" y="34636"/>
                  <a:pt x="3521720" y="21946"/>
                </a:cubicBezTo>
                <a:cubicBezTo>
                  <a:pt x="3222719" y="9256"/>
                  <a:pt x="3102025" y="-1390"/>
                  <a:pt x="2742103" y="21946"/>
                </a:cubicBezTo>
                <a:cubicBezTo>
                  <a:pt x="2382181" y="45282"/>
                  <a:pt x="2198742" y="751"/>
                  <a:pt x="1962485" y="21946"/>
                </a:cubicBezTo>
                <a:cubicBezTo>
                  <a:pt x="1726228" y="43141"/>
                  <a:pt x="1648947" y="40913"/>
                  <a:pt x="1397935" y="21946"/>
                </a:cubicBezTo>
                <a:cubicBezTo>
                  <a:pt x="1146923" y="2980"/>
                  <a:pt x="943158" y="-3639"/>
                  <a:pt x="725851" y="21946"/>
                </a:cubicBezTo>
                <a:cubicBezTo>
                  <a:pt x="508544" y="47531"/>
                  <a:pt x="222016" y="44348"/>
                  <a:pt x="0" y="21946"/>
                </a:cubicBezTo>
                <a:cubicBezTo>
                  <a:pt x="-270" y="16026"/>
                  <a:pt x="-456" y="812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128C7C1-E580-EE91-C5B0-E5729F329505}"/>
              </a:ext>
            </a:extLst>
          </p:cNvPr>
          <p:cNvSpPr/>
          <p:nvPr/>
        </p:nvSpPr>
        <p:spPr>
          <a:xfrm>
            <a:off x="6151701" y="652235"/>
            <a:ext cx="7469202" cy="6981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800" dirty="0" err="1"/>
              <a:t>React</a:t>
            </a:r>
            <a:r>
              <a:rPr lang="fr-FR" sz="2800" dirty="0"/>
              <a:t> (Vite + </a:t>
            </a:r>
            <a:r>
              <a:rPr lang="fr-FR" sz="2800" dirty="0" err="1"/>
              <a:t>TypeScript</a:t>
            </a:r>
            <a:r>
              <a:rPr lang="fr-FR" sz="2800" dirty="0"/>
              <a:t>) Documentation: </a:t>
            </a:r>
            <a:r>
              <a:rPr lang="en-US" sz="2800" dirty="0">
                <a:hlinkClick r:id="rId2"/>
              </a:rPr>
              <a:t>Vite |       Next Generation Frontend Tooling</a:t>
            </a:r>
            <a:endParaRPr lang="en-US" sz="2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TanStack</a:t>
            </a:r>
            <a:r>
              <a:rPr lang="en-US" sz="2800" dirty="0"/>
              <a:t> Query (React Query) Documentation:</a:t>
            </a:r>
            <a:br>
              <a:rPr lang="en-US" sz="2800" dirty="0"/>
            </a:br>
            <a:r>
              <a:rPr lang="en-US" sz="2800" dirty="0"/>
              <a:t>   </a:t>
            </a:r>
            <a:r>
              <a:rPr lang="en-IN" sz="2800" dirty="0" err="1">
                <a:hlinkClick r:id="rId3"/>
              </a:rPr>
              <a:t>TanStack</a:t>
            </a:r>
            <a:r>
              <a:rPr lang="en-IN" sz="2800" dirty="0">
                <a:hlinkClick r:id="rId3"/>
              </a:rPr>
              <a:t> Query</a:t>
            </a:r>
            <a:endParaRPr lang="en-IN" sz="2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Spring Boot Documentation : </a:t>
            </a:r>
            <a:r>
              <a:rPr lang="en-IN" sz="2800" dirty="0">
                <a:hlinkClick r:id="rId4"/>
              </a:rPr>
              <a:t>Spring Boot</a:t>
            </a:r>
            <a:endParaRPr lang="en-US" sz="2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Spring Security Documentation : </a:t>
            </a:r>
            <a:r>
              <a:rPr lang="en-IN" sz="2800" dirty="0">
                <a:hlinkClick r:id="rId5"/>
              </a:rPr>
              <a:t>Spring Security</a:t>
            </a:r>
            <a:endParaRPr lang="en-IN" sz="2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800" dirty="0"/>
              <a:t>Azure MySQL Database Documentation : </a:t>
            </a:r>
            <a:r>
              <a:rPr lang="en-IN" sz="2800" dirty="0">
                <a:hlinkClick r:id="rId6"/>
              </a:rPr>
              <a:t>Azure Database for MySQL documentation | Microsoft Learn</a:t>
            </a:r>
            <a:endParaRPr lang="en-IN" sz="2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Stack Overflow : Debugging and implementation     help , Available at: </a:t>
            </a:r>
            <a:r>
              <a:rPr lang="en-US" sz="2800" dirty="0">
                <a:hlinkClick r:id="rId7"/>
              </a:rPr>
              <a:t>https://stackoverflow.com</a:t>
            </a:r>
            <a:endParaRPr lang="en-US" sz="2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43C3FB-C928-8553-3624-6E02974BEB80}"/>
              </a:ext>
            </a:extLst>
          </p:cNvPr>
          <p:cNvCxnSpPr>
            <a:cxnSpLocks/>
          </p:cNvCxnSpPr>
          <p:nvPr/>
        </p:nvCxnSpPr>
        <p:spPr>
          <a:xfrm flipH="1">
            <a:off x="1150706" y="4356242"/>
            <a:ext cx="347266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235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Simple Thank You Slides - SlideChef">
            <a:extLst>
              <a:ext uri="{FF2B5EF4-FFF2-40B4-BE49-F238E27FC236}">
                <a16:creationId xmlns:a16="http://schemas.microsoft.com/office/drawing/2014/main" id="{D5950889-D823-0141-D889-A25834249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170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</TotalTime>
  <Words>1372</Words>
  <Application>Microsoft Office PowerPoint</Application>
  <PresentationFormat>Custom</PresentationFormat>
  <Paragraphs>214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Tomorrow</vt:lpstr>
      <vt:lpstr>Calibri Light</vt:lpstr>
      <vt:lpstr>Times New Roman</vt:lpstr>
      <vt:lpstr>Tomorrow Semi Bold</vt:lpstr>
      <vt:lpstr>Tomorrow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 Patel</dc:creator>
  <cp:lastModifiedBy>Kishan Dervaliya</cp:lastModifiedBy>
  <cp:revision>22</cp:revision>
  <cp:lastPrinted>2026-04-10T15:27:45Z</cp:lastPrinted>
  <dcterms:created xsi:type="dcterms:W3CDTF">2026-03-30T09:36:50Z</dcterms:created>
  <dcterms:modified xsi:type="dcterms:W3CDTF">2026-04-10T15:41:13Z</dcterms:modified>
</cp:coreProperties>
</file>